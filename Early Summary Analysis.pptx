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0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4"/>
  </p:normalViewPr>
  <p:slideViewPr>
    <p:cSldViewPr snapToGrid="0">
      <p:cViewPr varScale="1">
        <p:scale>
          <a:sx n="108" d="100"/>
          <a:sy n="108" d="100"/>
        </p:scale>
        <p:origin x="7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7B996-07E4-F26F-0659-755E156A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8F7D6-E340-3B61-35AA-015CC255F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Bivariate models were fitted across all the predictors with linear regressions for numeric outcome variable AF and logistic regression for the binary outcome variable PR</a:t>
            </a:r>
          </a:p>
          <a:p>
            <a:r>
              <a:rPr lang="en-US" dirty="0"/>
              <a:t>Age and treatment have a significant relationship on AF</a:t>
            </a:r>
          </a:p>
          <a:p>
            <a:r>
              <a:rPr lang="en-US" dirty="0"/>
              <a:t>Age was the only significant predictor of PR</a:t>
            </a:r>
          </a:p>
          <a:p>
            <a:r>
              <a:rPr lang="en-US" dirty="0"/>
              <a:t>Genetic SNPs did not have any significant effect with the current basic model</a:t>
            </a:r>
          </a:p>
          <a:p>
            <a:r>
              <a:rPr lang="en-US" dirty="0"/>
              <a:t>No data for smoking status – all non-smokers</a:t>
            </a:r>
          </a:p>
          <a:p>
            <a:pPr lvl="1"/>
            <a:r>
              <a:rPr lang="en-US" dirty="0"/>
              <a:t>Would need a combination of smokers and non-smokers to determine a relationship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97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8F7E6-6399-750F-D868-4996CA629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1F64-0D27-16B5-6D27-49838DAD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92568A3-3CF3-915A-3B4C-23A66404A3C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03313" y="1389413"/>
                <a:ext cx="4395787" cy="2185060"/>
              </a:xfrm>
            </p:spPr>
            <p:txBody>
              <a:bodyPr anchor="t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Clear and strong positive linear relationship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Some separation unexplainable with age alone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Significant relationship with test statistic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</m:sSub>
                    <m:r>
                      <a:rPr lang="en-AU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6.7</m:t>
                    </m:r>
                    <m:r>
                      <a:rPr lang="en-A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A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92568A3-3CF3-915A-3B4C-23A66404A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03313" y="1389413"/>
                <a:ext cx="4395787" cy="2185060"/>
              </a:xfrm>
              <a:blipFill>
                <a:blip r:embed="rId2"/>
                <a:stretch>
                  <a:fillRect l="-576" t="-1734" r="-2017" b="-4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D8F466C-3420-E1D5-63FF-557B459701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103313" y="3736703"/>
            <a:ext cx="4395787" cy="2793823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10546BC-A580-CCF9-6A0C-440E870BC96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5654675" y="3736703"/>
            <a:ext cx="4395788" cy="27938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2">
                <a:extLst>
                  <a:ext uri="{FF2B5EF4-FFF2-40B4-BE49-F238E27FC236}">
                    <a16:creationId xmlns:a16="http://schemas.microsoft.com/office/drawing/2014/main" id="{3E4CCC57-1C09-307E-212D-6FF633795E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54675" y="1904999"/>
                <a:ext cx="4395787" cy="1669474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2400" b="0" i="0" kern="120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  <a:lvl2pPr marL="4572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20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9144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8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3716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18288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2860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7432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2004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6576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Subjects that are older are more likely to have PR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Significant relationship with test statistic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</m:sSub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=1.3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−11</m:t>
                        </m:r>
                      </m:sup>
                    </m:sSup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15" name="Text Placeholder 2">
                <a:extLst>
                  <a:ext uri="{FF2B5EF4-FFF2-40B4-BE49-F238E27FC236}">
                    <a16:creationId xmlns:a16="http://schemas.microsoft.com/office/drawing/2014/main" id="{3E4CCC57-1C09-307E-212D-6FF633795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675" y="1904999"/>
                <a:ext cx="4395787" cy="1669474"/>
              </a:xfrm>
              <a:prstGeom prst="rect">
                <a:avLst/>
              </a:prstGeom>
              <a:blipFill>
                <a:blip r:embed="rId5"/>
                <a:stretch>
                  <a:fillRect l="-576" t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61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8D0CC-0CE7-EBCC-3E5B-F6224514F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7DF4426-3744-FA0A-31F9-68A97E401DF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03313" y="1270660"/>
                <a:ext cx="4396338" cy="2268186"/>
              </a:xfrm>
            </p:spPr>
            <p:txBody>
              <a:bodyPr anchor="t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Clear increase in AF for treatment groups B and C, likely behind the split visible in the age plots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Significant relationship with test statistic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</m:sSub>
                    <m:r>
                      <a:rPr lang="en-AU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6.5</m:t>
                    </m:r>
                    <m:r>
                      <a:rPr lang="en-A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51</m:t>
                        </m:r>
                      </m:sup>
                    </m:sSup>
                    <m:r>
                      <a:rPr lang="en-A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7DF4426-3744-FA0A-31F9-68A97E401D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03313" y="1270660"/>
                <a:ext cx="4396338" cy="2268186"/>
              </a:xfrm>
              <a:blipFill>
                <a:blip r:embed="rId2"/>
                <a:stretch>
                  <a:fillRect l="-576" t="-1111" r="-2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21A774-407A-6780-44FE-10661792D7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103313" y="3665445"/>
            <a:ext cx="4395787" cy="27938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417C7853-9DDC-D846-EB91-B88C43229802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5654675" y="1276986"/>
                <a:ext cx="4396339" cy="576262"/>
              </a:xfrm>
            </p:spPr>
            <p:txBody>
              <a:bodyPr anchor="t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Does not appear to be a correlation between high AF and PR proportion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 significant relationship with test statistic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</m:sSub>
                    <m:r>
                      <a:rPr lang="en-AU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0.89</m:t>
                    </m:r>
                    <m:r>
                      <a:rPr lang="en-A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417C7853-9DDC-D846-EB91-B88C432298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xfrm>
                <a:off x="5654675" y="1276986"/>
                <a:ext cx="4396339" cy="576262"/>
              </a:xfrm>
              <a:blipFill>
                <a:blip r:embed="rId4"/>
                <a:stretch>
                  <a:fillRect l="-576" t="-6522" b="-2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44A26A5-D6FA-0BCD-4055-6D9AD01BAA6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5654675" y="3665445"/>
            <a:ext cx="4395788" cy="279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221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E22A8-8373-262E-8A01-7BB2ED8E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7540F-DEC8-CB24-1B28-01D16458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Sex Effect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7E009-EAA7-A19F-4F8C-888BB077A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1" y="1659060"/>
            <a:ext cx="8947150" cy="576262"/>
          </a:xfrm>
        </p:spPr>
        <p:txBody>
          <a:bodyPr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There is no significant relationship between sex and either AF or PR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1A88CC5-4820-1298-66DF-49A89389DA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03313" y="3522943"/>
            <a:ext cx="4395787" cy="2793823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04198E9-C72B-F17A-9A29-7FD3FC3C37D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54675" y="3522943"/>
            <a:ext cx="4395788" cy="27938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Placeholder 2">
                <a:extLst>
                  <a:ext uri="{FF2B5EF4-FFF2-40B4-BE49-F238E27FC236}">
                    <a16:creationId xmlns:a16="http://schemas.microsoft.com/office/drawing/2014/main" id="{92BA8083-940A-FABD-55F3-9145D61666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54673" y="2852738"/>
                <a:ext cx="4395789" cy="57626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2400" b="0" i="0" kern="120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  <a:lvl2pPr marL="4572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20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9144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8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3716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18288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2860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7432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2004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6576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Test statistic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</m:sSub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99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15" name="Text Placeholder 2">
                <a:extLst>
                  <a:ext uri="{FF2B5EF4-FFF2-40B4-BE49-F238E27FC236}">
                    <a16:creationId xmlns:a16="http://schemas.microsoft.com/office/drawing/2014/main" id="{92BA8083-940A-FABD-55F3-9145D6166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673" y="2852738"/>
                <a:ext cx="4395789" cy="576262"/>
              </a:xfrm>
              <a:prstGeom prst="rect">
                <a:avLst/>
              </a:prstGeom>
              <a:blipFill>
                <a:blip r:embed="rId4"/>
                <a:stretch>
                  <a:fillRect l="-1153" t="-8511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Placeholder 2">
                <a:extLst>
                  <a:ext uri="{FF2B5EF4-FFF2-40B4-BE49-F238E27FC236}">
                    <a16:creationId xmlns:a16="http://schemas.microsoft.com/office/drawing/2014/main" id="{FB36A4CC-57E1-2C5E-75C4-751E2F791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3311" y="2852738"/>
                <a:ext cx="4395789" cy="57626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2400" b="0" i="0" kern="120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  <a:lvl2pPr marL="4572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20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9144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8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3716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18288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2860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7432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2004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657600" indent="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None/>
                  <a:defRPr sz="1600" b="1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Test statistic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</m:sSub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0.98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16" name="Text Placeholder 2">
                <a:extLst>
                  <a:ext uri="{FF2B5EF4-FFF2-40B4-BE49-F238E27FC236}">
                    <a16:creationId xmlns:a16="http://schemas.microsoft.com/office/drawing/2014/main" id="{FB36A4CC-57E1-2C5E-75C4-751E2F791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311" y="2852738"/>
                <a:ext cx="4395789" cy="576262"/>
              </a:xfrm>
              <a:prstGeom prst="rect">
                <a:avLst/>
              </a:prstGeom>
              <a:blipFill>
                <a:blip r:embed="rId5"/>
                <a:stretch>
                  <a:fillRect l="-865" t="-8511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0519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68</TotalTime>
  <Words>210</Words>
  <Application>Microsoft Macintosh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Cambria Math</vt:lpstr>
      <vt:lpstr>Century Gothic</vt:lpstr>
      <vt:lpstr>Wingdings 3</vt:lpstr>
      <vt:lpstr>Ion</vt:lpstr>
      <vt:lpstr>Summary</vt:lpstr>
      <vt:lpstr>Age Effect</vt:lpstr>
      <vt:lpstr>Treatment Effect</vt:lpstr>
      <vt:lpstr>Sex Effect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Gordon</dc:creator>
  <cp:lastModifiedBy>Matthew Gordon</cp:lastModifiedBy>
  <cp:revision>1</cp:revision>
  <dcterms:created xsi:type="dcterms:W3CDTF">2026-03-20T02:16:28Z</dcterms:created>
  <dcterms:modified xsi:type="dcterms:W3CDTF">2026-03-20T03:24:43Z</dcterms:modified>
</cp:coreProperties>
</file>